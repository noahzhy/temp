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9" r:id="rId3"/>
    <p:sldId id="260" r:id="rId4"/>
    <p:sldId id="264" r:id="rId5"/>
    <p:sldId id="261" r:id="rId6"/>
    <p:sldId id="282" r:id="rId7"/>
    <p:sldId id="283" r:id="rId8"/>
    <p:sldId id="257" r:id="rId9"/>
    <p:sldId id="268" r:id="rId10"/>
    <p:sldId id="269" r:id="rId11"/>
    <p:sldId id="270" r:id="rId12"/>
    <p:sldId id="279" r:id="rId13"/>
    <p:sldId id="278" r:id="rId14"/>
    <p:sldId id="272" r:id="rId15"/>
    <p:sldId id="27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4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24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6477CE-9A90-40F6-9396-25EDDF5FE81C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CE0A7-C673-42E5-A7AE-85FCD7248E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674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61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14AA69-3CD3-4219-8975-4EAB6C4DD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DF113D-B320-47B4-B6E8-63DE9DE90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8F8762-7176-48D6-A251-C049089A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D264E1-F84E-4B6C-8B19-278ABECAF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0B628D-889A-40CA-8200-E9BE9DE1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83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A7FA3-F1BF-43DC-A4DF-D3CCAAB3C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C3C54D-9490-43BD-8798-F43485196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B73605-F9FF-467A-A5F1-2D7D76B6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FEB783-BBFE-4142-8B20-45E395DD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D5F055-E2DD-4FE9-97C3-6EAC90D78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818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B3DD9-E184-4127-BC6D-AEAB76FD2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205367-265D-45B2-8F60-9E7F4CA9E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1D6F97-5B85-4930-8F77-FCC4678A3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14492-4411-474B-91A1-33A13F03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4942BB-BF54-43D7-B8EC-57019BEC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87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CAF772-2716-446E-B12E-19E7EEE5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DC660D-C4BE-427A-B5C2-58ED134697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D437C4-F5D5-4750-9B42-1DB9D9884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9C2931-AB54-48D7-ACF2-EC1AFD47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D98BAA-EAE2-4DA9-81E7-3F6281AD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7F4FDC-42BE-4A11-A224-537F28083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28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63E02-A6A6-4463-9C9A-5825123A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75310B-3EF2-4CB8-85A4-EC00CD5FC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5DD7A0C-7B65-4F68-8426-CBA95187A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10A27BA-72BA-4F2E-B332-785494348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17BAFC-A2D4-4538-8649-2A44D5F114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C57EC2F-B91E-4C83-A511-AE5720532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40638C-9B13-4D8F-A6C4-5F10EE8D4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3C07C3-D90E-4306-8EE3-6872F7B13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14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47869-B4BF-4210-8C38-CFD2FCBB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475B0A-8E84-4175-96D3-A0B230FF4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B84FBB-F845-4679-AA28-61246C2D9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F5816A-1DF5-48FB-8752-B2CB29F8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61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CB2EC64-0553-418D-9D9E-F733B5A46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6ECAA6-E50E-4BED-91A5-42DCF1C44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70578A-4580-4DD1-8B12-326B863D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12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F7589-634E-4B9C-9F90-A3E8229A1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9BFB10-0A95-4299-90ED-AE09C2BCD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D6730E-F2D9-4C94-A0FD-AA1F1A547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9C0F09-B937-4860-BFD2-38099E80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204037-7375-401D-94F4-26F12572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79DEB8-8274-4082-8ABB-60A0C720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06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93FEB-6094-4A83-B393-BC7EA5992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8918E0-CADE-4CB1-806B-DC74C86641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F2505A-738D-4E4F-B3F1-EDA425C79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7D6557-7F84-4870-8600-D5E8E474F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DC6BA1-E203-411F-8E91-30D998D3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5284A7-308F-4A73-B614-8D9E5D71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893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AB016-14C0-4275-B8FA-DDEE80225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4897F-5105-47C5-9D83-E9F534FA3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2435A0-4E0B-4C6A-9D3C-7D1EE0E2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824306-1DD3-408B-80B9-D6348B7A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D40FB6-B60D-4049-BEDA-C9AA31132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267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5DEC1D-F22F-4B0B-8C4D-6A8AE4FB99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48A570-F238-4E7E-AA0F-3E9F4FA52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D49976-C68E-48A3-B5BC-544842B8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84B69-A0AB-42A0-8D29-684996B9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BD6899-C233-4809-982F-80B54B022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71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529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3"/>
          <p:cNvSpPr>
            <a:spLocks noGrp="1"/>
          </p:cNvSpPr>
          <p:nvPr>
            <p:ph type="pic" sz="quarter" idx="57"/>
          </p:nvPr>
        </p:nvSpPr>
        <p:spPr>
          <a:xfrm>
            <a:off x="4037794" y="2136095"/>
            <a:ext cx="5376287" cy="3729447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13"/>
          <p:cNvSpPr>
            <a:spLocks noGrp="1"/>
          </p:cNvSpPr>
          <p:nvPr>
            <p:ph type="pic" sz="quarter" idx="58"/>
          </p:nvPr>
        </p:nvSpPr>
        <p:spPr>
          <a:xfrm>
            <a:off x="1263867" y="1288603"/>
            <a:ext cx="4658973" cy="3339154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1300">
                <a:ln>
                  <a:noFill/>
                </a:ln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5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844141-8C26-4275-B31B-B2B23FEE1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689430-7FCF-4031-A86F-5015284D5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9706D8-EA80-4628-8F01-FECC1A86D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60E6B-2058-4AA7-812E-2D141CF439A8}" type="datetimeFigureOut">
              <a:rPr lang="zh-CN" altLang="en-US" smtClean="0"/>
              <a:t>2018/10/10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CB3AD3-DC5E-49D5-BACB-2BA7FB0DF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07E4E7-5647-4971-8388-5A5CEF045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ACAAA-42FF-44D2-AAEF-91404CF03C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04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emergence.com/machine-learning-marketing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centure.com/us-en/insight-ai-industry-growth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>
            <a:off x="10648083" y="846984"/>
            <a:ext cx="402696" cy="402696"/>
          </a:xfrm>
          <a:prstGeom prst="ellipse">
            <a:avLst/>
          </a:prstGeom>
          <a:solidFill>
            <a:srgbClr val="89BFE3"/>
          </a:solidFill>
          <a:ln>
            <a:noFill/>
          </a:ln>
          <a:effectLst>
            <a:reflection stA="45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/>
        </p:nvSpPr>
        <p:spPr>
          <a:xfrm rot="10800000" flipV="1">
            <a:off x="-11575" y="1249680"/>
            <a:ext cx="7251614" cy="5654361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867466" y="4122251"/>
            <a:ext cx="7035481" cy="104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150624">
              <a:spcBef>
                <a:spcPct val="20000"/>
              </a:spcBef>
            </a:pPr>
            <a:r>
              <a:rPr lang="en-US" altLang="zh-CN" sz="2800" kern="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Ryu </a:t>
            </a:r>
            <a:r>
              <a:rPr lang="en-US" altLang="zh-CN" sz="2800" kern="0" dirty="0" err="1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Suhyun</a:t>
            </a:r>
            <a:r>
              <a:rPr lang="en-US" altLang="zh-CN" sz="2800" kern="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	   2017002197</a:t>
            </a:r>
          </a:p>
          <a:p>
            <a:pPr defTabSz="1150624">
              <a:spcBef>
                <a:spcPct val="20000"/>
              </a:spcBef>
            </a:pPr>
            <a:r>
              <a:rPr lang="en-US" altLang="zh-CN" sz="2800" kern="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Zhang </a:t>
            </a:r>
            <a:r>
              <a:rPr lang="en-US" altLang="zh-CN" sz="2800" kern="0" dirty="0" err="1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Haoyu</a:t>
            </a:r>
            <a:r>
              <a:rPr lang="en-US" altLang="zh-CN" sz="2800" kern="0" dirty="0">
                <a:solidFill>
                  <a:schemeClr val="accent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 2018000337</a:t>
            </a:r>
            <a:endParaRPr lang="zh-CN" altLang="en-US" sz="2800" kern="0" dirty="0">
              <a:solidFill>
                <a:schemeClr val="accent1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椭圆 4"/>
          <p:cNvSpPr>
            <a:spLocks noChangeArrowheads="1"/>
          </p:cNvSpPr>
          <p:nvPr/>
        </p:nvSpPr>
        <p:spPr bwMode="auto">
          <a:xfrm>
            <a:off x="9207690" y="1740257"/>
            <a:ext cx="625475" cy="625475"/>
          </a:xfrm>
          <a:prstGeom prst="ellipse">
            <a:avLst/>
          </a:prstGeom>
          <a:solidFill>
            <a:srgbClr val="B4DBEA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椭圆 5"/>
          <p:cNvSpPr>
            <a:spLocks noChangeArrowheads="1"/>
          </p:cNvSpPr>
          <p:nvPr/>
        </p:nvSpPr>
        <p:spPr bwMode="auto">
          <a:xfrm>
            <a:off x="9349611" y="1863864"/>
            <a:ext cx="378260" cy="378260"/>
          </a:xfrm>
          <a:prstGeom prst="ellipse">
            <a:avLst/>
          </a:prstGeom>
          <a:solidFill>
            <a:srgbClr val="89BFE3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椭圆 8"/>
          <p:cNvSpPr>
            <a:spLocks noChangeArrowheads="1"/>
          </p:cNvSpPr>
          <p:nvPr/>
        </p:nvSpPr>
        <p:spPr bwMode="auto">
          <a:xfrm>
            <a:off x="8663016" y="4159073"/>
            <a:ext cx="625475" cy="625475"/>
          </a:xfrm>
          <a:prstGeom prst="ellipse">
            <a:avLst/>
          </a:prstGeom>
          <a:solidFill>
            <a:srgbClr val="AFCFE7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椭圆 7"/>
          <p:cNvSpPr>
            <a:spLocks noChangeArrowheads="1"/>
          </p:cNvSpPr>
          <p:nvPr/>
        </p:nvSpPr>
        <p:spPr bwMode="auto">
          <a:xfrm>
            <a:off x="6256585" y="1711148"/>
            <a:ext cx="2860675" cy="2860675"/>
          </a:xfrm>
          <a:prstGeom prst="ellipse">
            <a:avLst/>
          </a:prstGeom>
          <a:solidFill>
            <a:srgbClr val="5BA2CD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7" name="椭圆 9"/>
          <p:cNvSpPr>
            <a:spLocks noChangeArrowheads="1"/>
          </p:cNvSpPr>
          <p:nvPr/>
        </p:nvSpPr>
        <p:spPr bwMode="auto">
          <a:xfrm>
            <a:off x="6632289" y="4710811"/>
            <a:ext cx="312737" cy="312737"/>
          </a:xfrm>
          <a:prstGeom prst="ellipse">
            <a:avLst/>
          </a:prstGeom>
          <a:solidFill>
            <a:srgbClr val="AFCFE7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椭圆 29"/>
          <p:cNvSpPr>
            <a:spLocks noChangeArrowheads="1"/>
          </p:cNvSpPr>
          <p:nvPr/>
        </p:nvSpPr>
        <p:spPr bwMode="auto">
          <a:xfrm>
            <a:off x="9368085" y="5149673"/>
            <a:ext cx="341312" cy="341312"/>
          </a:xfrm>
          <a:prstGeom prst="ellipse">
            <a:avLst/>
          </a:prstGeom>
          <a:solidFill>
            <a:srgbClr val="89BFE3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2" name="椭圆 30"/>
          <p:cNvSpPr>
            <a:spLocks noChangeArrowheads="1"/>
          </p:cNvSpPr>
          <p:nvPr/>
        </p:nvSpPr>
        <p:spPr bwMode="auto">
          <a:xfrm>
            <a:off x="9435536" y="5217124"/>
            <a:ext cx="206410" cy="206410"/>
          </a:xfrm>
          <a:prstGeom prst="ellipse">
            <a:avLst/>
          </a:prstGeom>
          <a:solidFill>
            <a:srgbClr val="63A6CF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3" name="椭圆 32"/>
          <p:cNvSpPr>
            <a:spLocks noChangeArrowheads="1"/>
          </p:cNvSpPr>
          <p:nvPr/>
        </p:nvSpPr>
        <p:spPr bwMode="auto">
          <a:xfrm>
            <a:off x="8267947" y="5071885"/>
            <a:ext cx="169863" cy="171450"/>
          </a:xfrm>
          <a:prstGeom prst="ellipse">
            <a:avLst/>
          </a:prstGeom>
          <a:solidFill>
            <a:srgbClr val="B4DBEA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椭圆 33"/>
          <p:cNvSpPr>
            <a:spLocks noChangeArrowheads="1"/>
          </p:cNvSpPr>
          <p:nvPr/>
        </p:nvSpPr>
        <p:spPr bwMode="auto">
          <a:xfrm>
            <a:off x="8301516" y="5105767"/>
            <a:ext cx="102726" cy="103685"/>
          </a:xfrm>
          <a:prstGeom prst="ellipse">
            <a:avLst/>
          </a:prstGeom>
          <a:solidFill>
            <a:srgbClr val="89BFE3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" name="椭圆 39"/>
          <p:cNvSpPr>
            <a:spLocks noChangeArrowheads="1"/>
          </p:cNvSpPr>
          <p:nvPr/>
        </p:nvSpPr>
        <p:spPr bwMode="auto">
          <a:xfrm>
            <a:off x="1699915" y="5887550"/>
            <a:ext cx="298450" cy="298450"/>
          </a:xfrm>
          <a:prstGeom prst="ellipse">
            <a:avLst/>
          </a:prstGeom>
          <a:solidFill>
            <a:srgbClr val="89BFE3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6" name="椭圆 40"/>
          <p:cNvSpPr>
            <a:spLocks noChangeArrowheads="1"/>
          </p:cNvSpPr>
          <p:nvPr/>
        </p:nvSpPr>
        <p:spPr bwMode="auto">
          <a:xfrm>
            <a:off x="1758895" y="5943044"/>
            <a:ext cx="180489" cy="180489"/>
          </a:xfrm>
          <a:prstGeom prst="ellipse">
            <a:avLst/>
          </a:prstGeom>
          <a:solidFill>
            <a:srgbClr val="63A6CF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788658" y="2200507"/>
            <a:ext cx="2646878" cy="18620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1500" b="1" kern="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AI</a:t>
            </a:r>
            <a:endParaRPr lang="zh-CN" altLang="en-US" sz="11500" b="1" kern="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797776" y="2783521"/>
            <a:ext cx="6555102" cy="110799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1150624">
              <a:spcBef>
                <a:spcPct val="20000"/>
              </a:spcBef>
              <a:defRPr sz="2400" kern="0">
                <a:solidFill>
                  <a:srgbClr val="FFFFFF"/>
                </a:solidFill>
              </a:defRPr>
            </a:lvl1pPr>
          </a:lstStyle>
          <a:p>
            <a:r>
              <a:rPr lang="en-US" altLang="zh-CN" sz="6600" b="1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Human vs</a:t>
            </a:r>
          </a:p>
        </p:txBody>
      </p:sp>
    </p:spTree>
    <p:extLst>
      <p:ext uri="{BB962C8B-B14F-4D97-AF65-F5344CB8AC3E}">
        <p14:creationId xmlns:p14="http://schemas.microsoft.com/office/powerpoint/2010/main" val="383149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" dur="500" tmFilter="0,0; .5, 1; 1, 1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2650"/>
                                </p:stCondLst>
                                <p:childTnLst>
                                  <p:par>
                                    <p:cTn id="17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500" tmFilter="0,0; .5, 1; 1, 1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4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500" tmFilter="0,0; .5, 1; 1, 1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10" grpId="0"/>
          <p:bldP spid="29" grpId="0"/>
          <p:bldP spid="30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5" dur="500" tmFilter="0,0; .5, 1; 1, 1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2650"/>
                                </p:stCondLst>
                                <p:childTnLst>
                                  <p:par>
                                    <p:cTn id="17" presetID="41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3" dur="500" tmFilter="0,0; .5, 1; 1, 1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4" presetID="41" presetClass="entr" presetSubtype="0" fill="hold" grpId="0" nodeType="withEffect">
                                      <p:stCondLst>
                                        <p:cond delay="1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0" dur="500" tmFilter="0,0; .5, 1; 1, 1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10" grpId="0"/>
          <p:bldP spid="29" grpId="0"/>
          <p:bldP spid="30" grpId="0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>
            <a:off x="9687425" y="4364956"/>
            <a:ext cx="952500" cy="952500"/>
          </a:xfrm>
          <a:prstGeom prst="ellipse">
            <a:avLst/>
          </a:prstGeom>
          <a:solidFill>
            <a:srgbClr val="89BFE3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6" name="任意多边形 25"/>
          <p:cNvSpPr/>
          <p:nvPr/>
        </p:nvSpPr>
        <p:spPr>
          <a:xfrm rot="10800000">
            <a:off x="0" y="0"/>
            <a:ext cx="5090160" cy="3911825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AFCF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6465213" y="1250276"/>
            <a:ext cx="952500" cy="952500"/>
          </a:xfrm>
          <a:prstGeom prst="ellipse">
            <a:avLst/>
          </a:prstGeom>
          <a:solidFill>
            <a:srgbClr val="92BDDE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29444" y="2294305"/>
            <a:ext cx="1542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Introduction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27177" y="2275570"/>
            <a:ext cx="2563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Manufacture &amp; Retail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651442" y="5410616"/>
            <a:ext cx="2864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AI apply in retail industry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486249" y="5435701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Conclusion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3694015" y="3569354"/>
            <a:ext cx="908689" cy="908689"/>
          </a:xfrm>
          <a:prstGeom prst="ellipse">
            <a:avLst/>
          </a:prstGeom>
          <a:solidFill>
            <a:srgbClr val="B4DBEA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9596857" y="1269011"/>
            <a:ext cx="952500" cy="952500"/>
          </a:xfrm>
          <a:prstGeom prst="ellipse">
            <a:avLst/>
          </a:pr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10304897" y="1976058"/>
            <a:ext cx="191910" cy="191910"/>
          </a:xfrm>
          <a:prstGeom prst="ellipse">
            <a:avLst/>
          </a:prstGeom>
          <a:solidFill>
            <a:srgbClr val="AFCF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6555781" y="4390040"/>
            <a:ext cx="952500" cy="952500"/>
          </a:xfrm>
          <a:prstGeom prst="ellipse">
            <a:avLst/>
          </a:prstGeom>
          <a:solidFill>
            <a:srgbClr val="AFCF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297003" y="5097087"/>
            <a:ext cx="191910" cy="191910"/>
          </a:xfrm>
          <a:prstGeom prst="ellipse">
            <a:avLst/>
          </a:prstGeom>
          <a:solidFill>
            <a:srgbClr val="AFCF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0402731" y="5097087"/>
            <a:ext cx="191910" cy="191910"/>
          </a:xfrm>
          <a:prstGeom prst="ellipse">
            <a:avLst/>
          </a:prstGeom>
          <a:solidFill>
            <a:srgbClr val="B4DB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7" name="MH_Others_1"/>
          <p:cNvSpPr txBox="1"/>
          <p:nvPr>
            <p:custDataLst>
              <p:tags r:id="rId1"/>
            </p:custDataLst>
          </p:nvPr>
        </p:nvSpPr>
        <p:spPr>
          <a:xfrm>
            <a:off x="6731724" y="1269011"/>
            <a:ext cx="427382" cy="955985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37500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6000" dirty="0">
                <a:solidFill>
                  <a:srgbClr val="523A2C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endParaRPr lang="zh-CN" altLang="en-US" sz="6000" dirty="0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8" name="MH_Others_1"/>
          <p:cNvSpPr txBox="1"/>
          <p:nvPr>
            <p:custDataLst>
              <p:tags r:id="rId2"/>
            </p:custDataLst>
          </p:nvPr>
        </p:nvSpPr>
        <p:spPr>
          <a:xfrm>
            <a:off x="9869982" y="1248533"/>
            <a:ext cx="427382" cy="955985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37500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6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  <a:endParaRPr lang="zh-CN" altLang="en-US" sz="6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9" name="MH_Others_1"/>
          <p:cNvSpPr txBox="1"/>
          <p:nvPr>
            <p:custDataLst>
              <p:tags r:id="rId3"/>
            </p:custDataLst>
          </p:nvPr>
        </p:nvSpPr>
        <p:spPr>
          <a:xfrm>
            <a:off x="6818340" y="4386554"/>
            <a:ext cx="427382" cy="955985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37500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6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  <a:endParaRPr lang="zh-CN" altLang="en-US" sz="6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0" name="MH_Others_1"/>
          <p:cNvSpPr txBox="1"/>
          <p:nvPr>
            <p:custDataLst>
              <p:tags r:id="rId4"/>
            </p:custDataLst>
          </p:nvPr>
        </p:nvSpPr>
        <p:spPr>
          <a:xfrm>
            <a:off x="9908081" y="4386555"/>
            <a:ext cx="427382" cy="955985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37500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6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</a:t>
            </a:r>
            <a:endParaRPr lang="zh-CN" altLang="en-US" sz="6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 rot="10800000">
            <a:off x="-8229" y="0"/>
            <a:ext cx="4799018" cy="3688080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92BDDE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MH_Others_1"/>
          <p:cNvSpPr txBox="1"/>
          <p:nvPr>
            <p:custDataLst>
              <p:tags r:id="rId5"/>
            </p:custDataLst>
          </p:nvPr>
        </p:nvSpPr>
        <p:spPr>
          <a:xfrm>
            <a:off x="-60413" y="1373573"/>
            <a:ext cx="5427212" cy="847938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9600" b="1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6600" b="0" spc="-3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Contents</a:t>
            </a:r>
            <a:endParaRPr lang="zh-CN" altLang="en-US" sz="6600" b="0" spc="-3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7159106" y="1976058"/>
            <a:ext cx="191910" cy="191910"/>
          </a:xfrm>
          <a:prstGeom prst="ellipse">
            <a:avLst/>
          </a:prstGeom>
          <a:solidFill>
            <a:srgbClr val="B4DB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603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25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75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2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75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 animBg="1"/>
      <p:bldP spid="4" grpId="0" animBg="1"/>
      <p:bldP spid="6" grpId="0"/>
      <p:bldP spid="11" grpId="0"/>
      <p:bldP spid="16" grpId="0"/>
      <p:bldP spid="21" grpId="0"/>
      <p:bldP spid="23" grpId="0" animBg="1"/>
      <p:bldP spid="9" grpId="0" animBg="1"/>
      <p:bldP spid="33" grpId="0" animBg="1"/>
      <p:bldP spid="14" grpId="0" animBg="1"/>
      <p:bldP spid="34" grpId="0" animBg="1"/>
      <p:bldP spid="35" grpId="0" animBg="1"/>
      <p:bldP spid="27" grpId="0"/>
      <p:bldP spid="28" grpId="0"/>
      <p:bldP spid="29" grpId="0"/>
      <p:bldP spid="30" grpId="0"/>
      <p:bldP spid="31" grpId="0" animBg="1"/>
      <p:bldP spid="2" grpId="0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1191309" y="1728827"/>
            <a:ext cx="3301902" cy="3301902"/>
          </a:xfrm>
          <a:prstGeom prst="ellipse">
            <a:avLst/>
          </a:prstGeom>
          <a:solidFill>
            <a:srgbClr val="92BDDE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511006" y="4480455"/>
            <a:ext cx="792585" cy="792585"/>
          </a:xfrm>
          <a:prstGeom prst="ellipse">
            <a:avLst/>
          </a:pr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6" name="MH_Others_1"/>
          <p:cNvSpPr txBox="1"/>
          <p:nvPr>
            <p:custDataLst>
              <p:tags r:id="rId1"/>
            </p:custDataLst>
          </p:nvPr>
        </p:nvSpPr>
        <p:spPr>
          <a:xfrm>
            <a:off x="2038026" y="2068831"/>
            <a:ext cx="954114" cy="3139229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37500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390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endParaRPr lang="zh-CN" altLang="en-US" sz="39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 rot="10800000" flipH="1">
            <a:off x="6461760" y="0"/>
            <a:ext cx="5730240" cy="3911825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7748895" y="1192192"/>
            <a:ext cx="521395" cy="521395"/>
            <a:chOff x="9937750" y="2166942"/>
            <a:chExt cx="625475" cy="625475"/>
          </a:xfrm>
        </p:grpSpPr>
        <p:sp>
          <p:nvSpPr>
            <p:cNvPr id="13" name="椭圆 4"/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92B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椭圆 5"/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63A6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960689" y="3429000"/>
            <a:ext cx="35060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322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7724675" y="1288991"/>
            <a:ext cx="3301902" cy="3301902"/>
          </a:xfrm>
          <a:prstGeom prst="ellipse">
            <a:avLst/>
          </a:prstGeom>
          <a:solidFill>
            <a:srgbClr val="AFCFE7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0044372" y="4040619"/>
            <a:ext cx="792585" cy="792585"/>
          </a:xfrm>
          <a:prstGeom prst="ellipse">
            <a:avLst/>
          </a:prstGeom>
          <a:solidFill>
            <a:srgbClr val="DAEBF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MH_Others_1"/>
          <p:cNvSpPr txBox="1"/>
          <p:nvPr>
            <p:custDataLst>
              <p:tags r:id="rId1"/>
            </p:custDataLst>
          </p:nvPr>
        </p:nvSpPr>
        <p:spPr>
          <a:xfrm>
            <a:off x="8930209" y="1536397"/>
            <a:ext cx="954114" cy="3139229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31400" dirty="0">
                <a:latin typeface="华文细黑" panose="02010600040101010101" pitchFamily="2" charset="-122"/>
                <a:ea typeface="华文细黑" panose="02010600040101010101" pitchFamily="2" charset="-122"/>
                <a:cs typeface="ISOCP" panose="00000400000000000000" pitchFamily="2" charset="0"/>
              </a:rPr>
              <a:t>2</a:t>
            </a:r>
            <a:endParaRPr lang="zh-CN" altLang="en-US" sz="31400" dirty="0">
              <a:latin typeface="华文细黑" panose="02010600040101010101" pitchFamily="2" charset="-122"/>
              <a:ea typeface="华文细黑" panose="02010600040101010101" pitchFamily="2" charset="-122"/>
              <a:cs typeface="ISOCP" panose="00000400000000000000" pitchFamily="2" charset="0"/>
            </a:endParaRPr>
          </a:p>
        </p:txBody>
      </p:sp>
      <p:sp>
        <p:nvSpPr>
          <p:cNvPr id="7" name="任意多边形 6"/>
          <p:cNvSpPr/>
          <p:nvPr/>
        </p:nvSpPr>
        <p:spPr>
          <a:xfrm flipH="1">
            <a:off x="0" y="2957750"/>
            <a:ext cx="4884516" cy="3911825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DAEBF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557853" y="3106011"/>
            <a:ext cx="600677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4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Manufacture &amp; Retail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711061" y="2400490"/>
            <a:ext cx="420927" cy="420927"/>
            <a:chOff x="9937750" y="2166942"/>
            <a:chExt cx="625475" cy="625475"/>
          </a:xfrm>
        </p:grpSpPr>
        <p:sp>
          <p:nvSpPr>
            <p:cNvPr id="15" name="椭圆 4"/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B4DB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6" name="椭圆 5"/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92B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760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LEGO, 玩具&#10;&#10;已生成高可信度的说明">
            <a:extLst>
              <a:ext uri="{FF2B5EF4-FFF2-40B4-BE49-F238E27FC236}">
                <a16:creationId xmlns:a16="http://schemas.microsoft.com/office/drawing/2014/main" id="{A8C979F1-7CB2-4B7C-8651-62A8C32AD4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87" y="2817564"/>
            <a:ext cx="3779019" cy="3779019"/>
          </a:xfrm>
          <a:prstGeom prst="rect">
            <a:avLst/>
          </a:prstGeom>
        </p:spPr>
      </p:pic>
      <p:pic>
        <p:nvPicPr>
          <p:cNvPr id="9" name="图片 8" descr="图片包含 餐桌, LEGO, 就坐, 玩具&#10;&#10;已生成极高可信度的说明">
            <a:extLst>
              <a:ext uri="{FF2B5EF4-FFF2-40B4-BE49-F238E27FC236}">
                <a16:creationId xmlns:a16="http://schemas.microsoft.com/office/drawing/2014/main" id="{3F706212-6BA6-4875-88A3-5271DBF89D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426" y="654576"/>
            <a:ext cx="3956616" cy="3956616"/>
          </a:xfrm>
          <a:prstGeom prst="rect">
            <a:avLst/>
          </a:prstGeom>
        </p:spPr>
      </p:pic>
      <p:sp>
        <p:nvSpPr>
          <p:cNvPr id="28" name="椭圆 27">
            <a:extLst>
              <a:ext uri="{FF2B5EF4-FFF2-40B4-BE49-F238E27FC236}">
                <a16:creationId xmlns:a16="http://schemas.microsoft.com/office/drawing/2014/main" id="{E1C94685-637B-4E94-845F-F60AA2920FB7}"/>
              </a:ext>
            </a:extLst>
          </p:cNvPr>
          <p:cNvSpPr/>
          <p:nvPr/>
        </p:nvSpPr>
        <p:spPr>
          <a:xfrm>
            <a:off x="5814223" y="3009162"/>
            <a:ext cx="1299101" cy="1299101"/>
          </a:xfrm>
          <a:prstGeom prst="ellipse">
            <a:avLst/>
          </a:prstGeom>
          <a:solidFill>
            <a:srgbClr val="63A6C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/>
              <a:t>VS</a:t>
            </a:r>
            <a:endParaRPr lang="zh-CN" altLang="en-US" sz="48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D204C96-659E-4550-BA89-9C8226ABA044}"/>
              </a:ext>
            </a:extLst>
          </p:cNvPr>
          <p:cNvSpPr txBox="1"/>
          <p:nvPr/>
        </p:nvSpPr>
        <p:spPr>
          <a:xfrm>
            <a:off x="9113684" y="4524348"/>
            <a:ext cx="865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b="1" dirty="0">
                <a:latin typeface="Futura Bk BT" panose="020B0502020204020303" pitchFamily="34" charset="0"/>
              </a:rPr>
              <a:t>Retail</a:t>
            </a:r>
            <a:endParaRPr lang="zh-CN" altLang="en-US" sz="2000" b="1" dirty="0">
              <a:latin typeface="Futura Bk BT" panose="020B0502020204020303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F67FD86-DE54-402B-84F3-2C8B59FF4036}"/>
              </a:ext>
            </a:extLst>
          </p:cNvPr>
          <p:cNvSpPr/>
          <p:nvPr/>
        </p:nvSpPr>
        <p:spPr>
          <a:xfrm>
            <a:off x="7180685" y="4944926"/>
            <a:ext cx="266557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4400" dirty="0">
                <a:latin typeface="Calibri Light" panose="020F0302020204030204" pitchFamily="34" charset="0"/>
                <a:ea typeface="Adobe 仿宋 Std R" panose="02020400000000000000" pitchFamily="18" charset="-122"/>
              </a:rPr>
              <a:t>?</a:t>
            </a:r>
            <a:endParaRPr lang="zh-CN" altLang="en-US" sz="4400" dirty="0">
              <a:latin typeface="Calibri Light" panose="020F0302020204030204" pitchFamily="34" charset="0"/>
              <a:ea typeface="Adobe 仿宋 Std R" panose="02020400000000000000" pitchFamily="18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FB7A50F-3FE2-4627-A2D0-D3252B3C2160}"/>
              </a:ext>
            </a:extLst>
          </p:cNvPr>
          <p:cNvGrpSpPr/>
          <p:nvPr/>
        </p:nvGrpSpPr>
        <p:grpSpPr>
          <a:xfrm>
            <a:off x="10185313" y="4470730"/>
            <a:ext cx="517527" cy="517527"/>
            <a:chOff x="9937750" y="2166942"/>
            <a:chExt cx="625475" cy="625475"/>
          </a:xfrm>
        </p:grpSpPr>
        <p:sp>
          <p:nvSpPr>
            <p:cNvPr id="34" name="椭圆 4">
              <a:extLst>
                <a:ext uri="{FF2B5EF4-FFF2-40B4-BE49-F238E27FC236}">
                  <a16:creationId xmlns:a16="http://schemas.microsoft.com/office/drawing/2014/main" id="{1454D1AC-1788-4431-9ED6-B2B149642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AFCF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6" name="椭圆 5">
              <a:extLst>
                <a:ext uri="{FF2B5EF4-FFF2-40B4-BE49-F238E27FC236}">
                  <a16:creationId xmlns:a16="http://schemas.microsoft.com/office/drawing/2014/main" id="{BE8B0142-1D07-41FD-8FCB-3606B1582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92B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F9DEE288-1E1D-4277-B9A7-97E904849AC0}"/>
              </a:ext>
            </a:extLst>
          </p:cNvPr>
          <p:cNvSpPr txBox="1"/>
          <p:nvPr/>
        </p:nvSpPr>
        <p:spPr>
          <a:xfrm>
            <a:off x="3482676" y="3236451"/>
            <a:ext cx="18036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Futura Bk BT" panose="020B0502020204020303" pitchFamily="34" charset="0"/>
              </a:rPr>
              <a:t>Manufacture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A3F24C0-51AA-4643-B01D-FEDE5228B07B}"/>
              </a:ext>
            </a:extLst>
          </p:cNvPr>
          <p:cNvSpPr/>
          <p:nvPr/>
        </p:nvSpPr>
        <p:spPr>
          <a:xfrm>
            <a:off x="3482676" y="3636561"/>
            <a:ext cx="26655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alibri Light" panose="020F0302020204030204" pitchFamily="34" charset="0"/>
                <a:ea typeface="Adobe 仿宋 Std R" panose="02020400000000000000" pitchFamily="18" charset="-122"/>
              </a:rPr>
              <a:t>Product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37CB8812-0FFC-42E3-9A2F-942A74ABCBD5}"/>
              </a:ext>
            </a:extLst>
          </p:cNvPr>
          <p:cNvGrpSpPr/>
          <p:nvPr/>
        </p:nvGrpSpPr>
        <p:grpSpPr>
          <a:xfrm>
            <a:off x="2791605" y="3177742"/>
            <a:ext cx="517527" cy="517527"/>
            <a:chOff x="9937750" y="2166942"/>
            <a:chExt cx="625475" cy="625475"/>
          </a:xfrm>
        </p:grpSpPr>
        <p:sp>
          <p:nvSpPr>
            <p:cNvPr id="46" name="椭圆 4">
              <a:extLst>
                <a:ext uri="{FF2B5EF4-FFF2-40B4-BE49-F238E27FC236}">
                  <a16:creationId xmlns:a16="http://schemas.microsoft.com/office/drawing/2014/main" id="{C6D92604-078E-4749-99E0-28FB7D117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AFCF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7" name="椭圆 5">
              <a:extLst>
                <a:ext uri="{FF2B5EF4-FFF2-40B4-BE49-F238E27FC236}">
                  <a16:creationId xmlns:a16="http://schemas.microsoft.com/office/drawing/2014/main" id="{90C8BBDC-7AD9-47B0-9210-AE97C6BF2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92B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55" name="椭圆 54">
            <a:extLst>
              <a:ext uri="{FF2B5EF4-FFF2-40B4-BE49-F238E27FC236}">
                <a16:creationId xmlns:a16="http://schemas.microsoft.com/office/drawing/2014/main" id="{923BBE2C-4E85-41D9-8CC3-2388B04AA1F3}"/>
              </a:ext>
            </a:extLst>
          </p:cNvPr>
          <p:cNvSpPr/>
          <p:nvPr/>
        </p:nvSpPr>
        <p:spPr>
          <a:xfrm>
            <a:off x="1019075" y="303754"/>
            <a:ext cx="1299101" cy="1299101"/>
          </a:xfrm>
          <a:prstGeom prst="ellipse">
            <a:avLst/>
          </a:pr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F1EEE3CD-C4D5-444B-892C-473F42C4A690}"/>
              </a:ext>
            </a:extLst>
          </p:cNvPr>
          <p:cNvSpPr/>
          <p:nvPr/>
        </p:nvSpPr>
        <p:spPr>
          <a:xfrm>
            <a:off x="821781" y="1040074"/>
            <a:ext cx="524547" cy="524547"/>
          </a:xfrm>
          <a:prstGeom prst="ellipse">
            <a:avLst/>
          </a:prstGeom>
          <a:solidFill>
            <a:srgbClr val="92BDDE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2FADCF0-63B5-4DE4-842C-FCB2BCD34F03}"/>
              </a:ext>
            </a:extLst>
          </p:cNvPr>
          <p:cNvSpPr/>
          <p:nvPr/>
        </p:nvSpPr>
        <p:spPr>
          <a:xfrm>
            <a:off x="1604910" y="654576"/>
            <a:ext cx="49394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Manufacture vs Retail</a:t>
            </a:r>
          </a:p>
        </p:txBody>
      </p:sp>
    </p:spTree>
    <p:extLst>
      <p:ext uri="{BB962C8B-B14F-4D97-AF65-F5344CB8AC3E}">
        <p14:creationId xmlns:p14="http://schemas.microsoft.com/office/powerpoint/2010/main" val="3967858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55" grpId="0" animBg="1"/>
      <p:bldP spid="56" grpId="0" animBg="1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671BD3B-348D-484B-B7B4-4476D140FB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999" y="2157152"/>
            <a:ext cx="6685469" cy="4862425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7949A94D-F53F-4E43-8C64-3272C524A0DD}"/>
              </a:ext>
            </a:extLst>
          </p:cNvPr>
          <p:cNvSpPr/>
          <p:nvPr/>
        </p:nvSpPr>
        <p:spPr>
          <a:xfrm>
            <a:off x="1019075" y="303754"/>
            <a:ext cx="1299101" cy="1299101"/>
          </a:xfrm>
          <a:prstGeom prst="ellipse">
            <a:avLst/>
          </a:pr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627BFDD-E374-42D5-ADC1-BD9E8CED706E}"/>
              </a:ext>
            </a:extLst>
          </p:cNvPr>
          <p:cNvSpPr/>
          <p:nvPr/>
        </p:nvSpPr>
        <p:spPr>
          <a:xfrm>
            <a:off x="821781" y="1040074"/>
            <a:ext cx="524547" cy="524547"/>
          </a:xfrm>
          <a:prstGeom prst="ellipse">
            <a:avLst/>
          </a:prstGeom>
          <a:solidFill>
            <a:srgbClr val="92BDDE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06E1F5-4E09-4405-BCA2-AAEA0696F6D6}"/>
              </a:ext>
            </a:extLst>
          </p:cNvPr>
          <p:cNvSpPr/>
          <p:nvPr/>
        </p:nvSpPr>
        <p:spPr>
          <a:xfrm>
            <a:off x="1604910" y="654576"/>
            <a:ext cx="70093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What could the retail store do?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61ADA8-1D82-4983-AE13-1E0C9DA6A5F6}"/>
              </a:ext>
            </a:extLst>
          </p:cNvPr>
          <p:cNvSpPr txBox="1"/>
          <p:nvPr/>
        </p:nvSpPr>
        <p:spPr>
          <a:xfrm>
            <a:off x="1774359" y="1864225"/>
            <a:ext cx="5233852" cy="1189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6000" b="1" dirty="0">
                <a:solidFill>
                  <a:srgbClr val="3F7CC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Efficiency</a:t>
            </a:r>
            <a:endParaRPr lang="zh-CN" altLang="en-US" sz="4800" b="1" dirty="0">
              <a:solidFill>
                <a:srgbClr val="3F7CC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09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439991-2919-49C3-86D4-CCE92E80409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66" b="19219"/>
          <a:stretch/>
        </p:blipFill>
        <p:spPr>
          <a:xfrm>
            <a:off x="-366414" y="1488565"/>
            <a:ext cx="8953065" cy="5215124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13F35E6B-36AE-4A36-820F-9A21043D5608}"/>
              </a:ext>
            </a:extLst>
          </p:cNvPr>
          <p:cNvSpPr/>
          <p:nvPr/>
        </p:nvSpPr>
        <p:spPr>
          <a:xfrm>
            <a:off x="1019075" y="303754"/>
            <a:ext cx="1299101" cy="1299101"/>
          </a:xfrm>
          <a:prstGeom prst="ellipse">
            <a:avLst/>
          </a:pr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EA3FD16-04D7-4168-9834-71C6CD1E929D}"/>
              </a:ext>
            </a:extLst>
          </p:cNvPr>
          <p:cNvSpPr/>
          <p:nvPr/>
        </p:nvSpPr>
        <p:spPr>
          <a:xfrm>
            <a:off x="821781" y="1040074"/>
            <a:ext cx="524547" cy="524547"/>
          </a:xfrm>
          <a:prstGeom prst="ellipse">
            <a:avLst/>
          </a:prstGeom>
          <a:solidFill>
            <a:srgbClr val="92BDDE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D35916-F604-4A35-8262-6039AA3882EF}"/>
              </a:ext>
            </a:extLst>
          </p:cNvPr>
          <p:cNvSpPr/>
          <p:nvPr/>
        </p:nvSpPr>
        <p:spPr>
          <a:xfrm>
            <a:off x="1604910" y="654576"/>
            <a:ext cx="95687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Which industry does AI company sell into?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60557B-F5FF-486C-9A8F-82B01DA24B72}"/>
              </a:ext>
            </a:extLst>
          </p:cNvPr>
          <p:cNvSpPr txBox="1"/>
          <p:nvPr/>
        </p:nvSpPr>
        <p:spPr>
          <a:xfrm>
            <a:off x="8478425" y="3429000"/>
            <a:ext cx="118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Futura Bk BT" panose="020B0502020204020303" pitchFamily="34" charset="0"/>
              </a:rPr>
              <a:t>Source:</a:t>
            </a:r>
            <a:r>
              <a:rPr lang="zh-CN" altLang="en-US" sz="2000" b="1" dirty="0">
                <a:latin typeface="Futura Bk BT" panose="020B0502020204020303" pitchFamily="34" charset="0"/>
              </a:rPr>
              <a:t> 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BE6DD9-1B69-4DAB-97EA-03D8736A16B0}"/>
              </a:ext>
            </a:extLst>
          </p:cNvPr>
          <p:cNvSpPr/>
          <p:nvPr/>
        </p:nvSpPr>
        <p:spPr>
          <a:xfrm>
            <a:off x="8478425" y="3750274"/>
            <a:ext cx="29418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alibri Light" panose="020F0302020204030204" pitchFamily="34" charset="0"/>
                <a:ea typeface="Adobe 仿宋 Std R" panose="02020400000000000000" pitchFamily="18" charset="-122"/>
                <a:hlinkClick r:id="rId3"/>
              </a:rPr>
              <a:t>https://www.techemergence.com/machine-learning-marketing/</a:t>
            </a:r>
            <a:endParaRPr lang="zh-CN" altLang="en-US" dirty="0">
              <a:latin typeface="Calibri Light" panose="020F0302020204030204" pitchFamily="34" charset="0"/>
              <a:ea typeface="Adobe 仿宋 Std R" panose="02020400000000000000" pitchFamily="18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DD8EC994-4FF8-4B57-B113-05E42DB3FF42}"/>
              </a:ext>
            </a:extLst>
          </p:cNvPr>
          <p:cNvGrpSpPr/>
          <p:nvPr/>
        </p:nvGrpSpPr>
        <p:grpSpPr>
          <a:xfrm>
            <a:off x="7889047" y="3491510"/>
            <a:ext cx="517527" cy="517527"/>
            <a:chOff x="9937750" y="2166942"/>
            <a:chExt cx="625475" cy="625475"/>
          </a:xfrm>
        </p:grpSpPr>
        <p:sp>
          <p:nvSpPr>
            <p:cNvPr id="14" name="椭圆 4">
              <a:extLst>
                <a:ext uri="{FF2B5EF4-FFF2-40B4-BE49-F238E27FC236}">
                  <a16:creationId xmlns:a16="http://schemas.microsoft.com/office/drawing/2014/main" id="{11859926-E3F5-4485-A35A-A42240336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AFCF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" name="椭圆 5">
              <a:extLst>
                <a:ext uri="{FF2B5EF4-FFF2-40B4-BE49-F238E27FC236}">
                  <a16:creationId xmlns:a16="http://schemas.microsoft.com/office/drawing/2014/main" id="{06EB3A41-121E-4FC5-8FEF-C3DAACE94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92B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4" name="图片 3" descr="图片包含 屏幕截图&#10;&#10;已生成极高可信度的说明">
            <a:extLst>
              <a:ext uri="{FF2B5EF4-FFF2-40B4-BE49-F238E27FC236}">
                <a16:creationId xmlns:a16="http://schemas.microsoft.com/office/drawing/2014/main" id="{627538C8-6C1B-471E-828B-3B1B9608A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89" t="92606" r="3396" b="2063"/>
          <a:stretch/>
        </p:blipFill>
        <p:spPr>
          <a:xfrm>
            <a:off x="9543675" y="3446281"/>
            <a:ext cx="1804789" cy="36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9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AF1A5906-C5C8-40AB-AE1F-4FEC6BAFC781}"/>
              </a:ext>
            </a:extLst>
          </p:cNvPr>
          <p:cNvSpPr/>
          <p:nvPr/>
        </p:nvSpPr>
        <p:spPr>
          <a:xfrm>
            <a:off x="1019075" y="303754"/>
            <a:ext cx="1299101" cy="1299101"/>
          </a:xfrm>
          <a:prstGeom prst="ellipse">
            <a:avLst/>
          </a:pr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9891FF1-0432-4627-8115-C8CE2B5092B2}"/>
              </a:ext>
            </a:extLst>
          </p:cNvPr>
          <p:cNvSpPr/>
          <p:nvPr/>
        </p:nvSpPr>
        <p:spPr>
          <a:xfrm>
            <a:off x="821781" y="1040074"/>
            <a:ext cx="524547" cy="524547"/>
          </a:xfrm>
          <a:prstGeom prst="ellipse">
            <a:avLst/>
          </a:prstGeom>
          <a:solidFill>
            <a:srgbClr val="92BDDE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F5BC6E-56E7-4B58-9C65-E8AEC3538B75}"/>
              </a:ext>
            </a:extLst>
          </p:cNvPr>
          <p:cNvSpPr/>
          <p:nvPr/>
        </p:nvSpPr>
        <p:spPr>
          <a:xfrm>
            <a:off x="1604910" y="654576"/>
            <a:ext cx="87659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The GVA of AI apply in every industries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9154537-71CC-477F-94B2-E112F9AAD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755" y="1682229"/>
            <a:ext cx="7213616" cy="517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49A3E71-B4E5-4DD1-9C44-771933D7B5D6}"/>
              </a:ext>
            </a:extLst>
          </p:cNvPr>
          <p:cNvSpPr txBox="1"/>
          <p:nvPr/>
        </p:nvSpPr>
        <p:spPr>
          <a:xfrm>
            <a:off x="8857320" y="4820299"/>
            <a:ext cx="7681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Futura Bk BT" panose="020B0502020204020303" pitchFamily="34" charset="0"/>
              </a:rPr>
              <a:t>GVA</a:t>
            </a:r>
            <a:endParaRPr lang="zh-CN" altLang="en-US" sz="2000" b="1" dirty="0">
              <a:latin typeface="Futura Bk BT" panose="020B0502020204020303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5DFF63D-8291-4DB4-90AA-916694E09C2A}"/>
              </a:ext>
            </a:extLst>
          </p:cNvPr>
          <p:cNvSpPr/>
          <p:nvPr/>
        </p:nvSpPr>
        <p:spPr>
          <a:xfrm>
            <a:off x="8857320" y="5141573"/>
            <a:ext cx="2941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alibri Light" panose="020F0302020204030204" pitchFamily="34" charset="0"/>
                <a:ea typeface="Adobe 仿宋 Std R" panose="02020400000000000000" pitchFamily="18" charset="-122"/>
              </a:rPr>
              <a:t>gross value added</a:t>
            </a:r>
            <a:endParaRPr lang="zh-CN" altLang="en-US" dirty="0">
              <a:latin typeface="Calibri Light" panose="020F0302020204030204" pitchFamily="34" charset="0"/>
              <a:ea typeface="Adobe 仿宋 Std R" panose="02020400000000000000" pitchFamily="18" charset="-122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E1969371-DB43-4554-951F-C44111B136BA}"/>
              </a:ext>
            </a:extLst>
          </p:cNvPr>
          <p:cNvGrpSpPr/>
          <p:nvPr/>
        </p:nvGrpSpPr>
        <p:grpSpPr>
          <a:xfrm>
            <a:off x="8223380" y="4882809"/>
            <a:ext cx="517527" cy="517527"/>
            <a:chOff x="9937750" y="2166942"/>
            <a:chExt cx="625475" cy="625475"/>
          </a:xfrm>
        </p:grpSpPr>
        <p:sp>
          <p:nvSpPr>
            <p:cNvPr id="16" name="椭圆 4">
              <a:extLst>
                <a:ext uri="{FF2B5EF4-FFF2-40B4-BE49-F238E27FC236}">
                  <a16:creationId xmlns:a16="http://schemas.microsoft.com/office/drawing/2014/main" id="{F1DF9508-CAA5-44CB-9B3F-63A262BA5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AFCF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" name="椭圆 5">
              <a:extLst>
                <a:ext uri="{FF2B5EF4-FFF2-40B4-BE49-F238E27FC236}">
                  <a16:creationId xmlns:a16="http://schemas.microsoft.com/office/drawing/2014/main" id="{4DA70120-2F59-4A68-A529-235EB6D18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92B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5E6FA1FA-3859-45A1-AC79-3A5C1C39EA23}"/>
              </a:ext>
            </a:extLst>
          </p:cNvPr>
          <p:cNvSpPr txBox="1"/>
          <p:nvPr/>
        </p:nvSpPr>
        <p:spPr>
          <a:xfrm>
            <a:off x="8807565" y="3028890"/>
            <a:ext cx="1188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Futura Bk BT" panose="020B0502020204020303" pitchFamily="34" charset="0"/>
              </a:rPr>
              <a:t>Source:</a:t>
            </a:r>
            <a:r>
              <a:rPr lang="zh-CN" altLang="en-US" sz="2000" b="1" dirty="0">
                <a:latin typeface="Futura Bk BT" panose="020B0502020204020303" pitchFamily="34" charset="0"/>
              </a:rPr>
              <a:t> 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AA7B9F6-F821-4D75-9A62-8849486D3EFD}"/>
              </a:ext>
            </a:extLst>
          </p:cNvPr>
          <p:cNvSpPr/>
          <p:nvPr/>
        </p:nvSpPr>
        <p:spPr>
          <a:xfrm>
            <a:off x="8807565" y="3350164"/>
            <a:ext cx="29418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alibri Light" panose="020F0302020204030204" pitchFamily="34" charset="0"/>
                <a:ea typeface="Adobe 仿宋 Std R" panose="02020400000000000000" pitchFamily="18" charset="-122"/>
                <a:hlinkClick r:id="rId3"/>
              </a:rPr>
              <a:t>https://www.accenture.com/us-en/insight-ai-industry-growth</a:t>
            </a:r>
            <a:endParaRPr lang="zh-CN" altLang="en-US" dirty="0">
              <a:latin typeface="Calibri Light" panose="020F0302020204030204" pitchFamily="34" charset="0"/>
              <a:ea typeface="Adobe 仿宋 Std R" panose="02020400000000000000" pitchFamily="18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901E3F1-87BF-40DA-8546-6A5E298B4AE2}"/>
              </a:ext>
            </a:extLst>
          </p:cNvPr>
          <p:cNvGrpSpPr/>
          <p:nvPr/>
        </p:nvGrpSpPr>
        <p:grpSpPr>
          <a:xfrm>
            <a:off x="8218187" y="3091400"/>
            <a:ext cx="517527" cy="517527"/>
            <a:chOff x="9937750" y="2166942"/>
            <a:chExt cx="625475" cy="625475"/>
          </a:xfrm>
        </p:grpSpPr>
        <p:sp>
          <p:nvSpPr>
            <p:cNvPr id="29" name="椭圆 4">
              <a:extLst>
                <a:ext uri="{FF2B5EF4-FFF2-40B4-BE49-F238E27FC236}">
                  <a16:creationId xmlns:a16="http://schemas.microsoft.com/office/drawing/2014/main" id="{F47E0BCF-656D-4CCC-B2CB-2ABA3176E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AFCF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0" name="椭圆 5">
              <a:extLst>
                <a:ext uri="{FF2B5EF4-FFF2-40B4-BE49-F238E27FC236}">
                  <a16:creationId xmlns:a16="http://schemas.microsoft.com/office/drawing/2014/main" id="{DE01BD83-4851-44E8-A341-FA5A18D18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92B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31" name="图片 30">
            <a:extLst>
              <a:ext uri="{FF2B5EF4-FFF2-40B4-BE49-F238E27FC236}">
                <a16:creationId xmlns:a16="http://schemas.microsoft.com/office/drawing/2014/main" id="{ABBC6A88-0E73-4604-A252-8BC88BCE6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831" y="2959593"/>
            <a:ext cx="1362500" cy="36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5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/>
        </p:nvSpPr>
        <p:spPr>
          <a:xfrm>
            <a:off x="4445049" y="974761"/>
            <a:ext cx="3301902" cy="3301902"/>
          </a:xfrm>
          <a:prstGeom prst="ellipse">
            <a:avLst/>
          </a:prstGeom>
          <a:solidFill>
            <a:srgbClr val="AFCFE7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3783601" y="3004660"/>
            <a:ext cx="414118" cy="414118"/>
          </a:xfrm>
          <a:prstGeom prst="ellipse">
            <a:avLst/>
          </a:prstGeom>
          <a:solidFill>
            <a:srgbClr val="DAEBF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6" name="MH_Others_1"/>
          <p:cNvSpPr txBox="1"/>
          <p:nvPr>
            <p:custDataLst>
              <p:tags r:id="rId1"/>
            </p:custDataLst>
          </p:nvPr>
        </p:nvSpPr>
        <p:spPr>
          <a:xfrm>
            <a:off x="5618943" y="1307841"/>
            <a:ext cx="954114" cy="3139229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31400" dirty="0">
                <a:latin typeface="华文细黑" panose="02010600040101010101" pitchFamily="2" charset="-122"/>
                <a:ea typeface="华文细黑" panose="02010600040101010101" pitchFamily="2" charset="-122"/>
                <a:cs typeface="ISOCP" panose="00000400000000000000" pitchFamily="2" charset="0"/>
              </a:rPr>
              <a:t>3</a:t>
            </a:r>
            <a:endParaRPr lang="zh-CN" altLang="en-US" sz="31400" dirty="0">
              <a:latin typeface="华文细黑" panose="02010600040101010101" pitchFamily="2" charset="-122"/>
              <a:ea typeface="华文细黑" panose="02010600040101010101" pitchFamily="2" charset="-122"/>
              <a:cs typeface="ISOCP" panose="00000400000000000000" pitchFamily="2" charset="0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6573057" y="2946175"/>
            <a:ext cx="5760720" cy="3911825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24723" y="5304955"/>
            <a:ext cx="674255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AI apply in retail industry</a:t>
            </a:r>
            <a:endParaRPr lang="zh-CN" altLang="en-US" sz="44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03790" y="4932027"/>
            <a:ext cx="611041" cy="611041"/>
            <a:chOff x="9937750" y="2166942"/>
            <a:chExt cx="625475" cy="625475"/>
          </a:xfrm>
        </p:grpSpPr>
        <p:sp>
          <p:nvSpPr>
            <p:cNvPr id="12" name="椭圆 4"/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B4DB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椭圆 5"/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92B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326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0623CE1-9851-4B40-B87B-B9841AA7A4B3}"/>
              </a:ext>
            </a:extLst>
          </p:cNvPr>
          <p:cNvGrpSpPr/>
          <p:nvPr/>
        </p:nvGrpSpPr>
        <p:grpSpPr>
          <a:xfrm>
            <a:off x="6979752" y="2108599"/>
            <a:ext cx="2815787" cy="534106"/>
            <a:chOff x="6819497" y="2083193"/>
            <a:chExt cx="2815787" cy="534106"/>
          </a:xfrm>
        </p:grpSpPr>
        <p:sp>
          <p:nvSpPr>
            <p:cNvPr id="30" name="椭圆 4">
              <a:extLst>
                <a:ext uri="{FF2B5EF4-FFF2-40B4-BE49-F238E27FC236}">
                  <a16:creationId xmlns:a16="http://schemas.microsoft.com/office/drawing/2014/main" id="{E8363726-CF60-4157-8237-86DE01680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9497" y="2099772"/>
              <a:ext cx="517527" cy="517527"/>
            </a:xfrm>
            <a:prstGeom prst="ellipse">
              <a:avLst/>
            </a:prstGeom>
            <a:solidFill>
              <a:srgbClr val="3D90C3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890943" y="2083193"/>
              <a:ext cx="27443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800">
                  <a:solidFill>
                    <a:srgbClr val="48A2A0"/>
                  </a:solidFill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1.  </a:t>
              </a:r>
              <a:r>
                <a:rPr lang="en-US" altLang="zh-CN" dirty="0">
                  <a:solidFill>
                    <a:srgbClr val="523A2C"/>
                  </a:solidFill>
                </a:rPr>
                <a:t>Set up the app</a:t>
              </a:r>
              <a:endParaRPr lang="zh-CN" altLang="en-US" dirty="0">
                <a:solidFill>
                  <a:srgbClr val="523A2C"/>
                </a:solidFill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69CBA8B7-0260-4736-A7E8-547F93BD7651}"/>
              </a:ext>
            </a:extLst>
          </p:cNvPr>
          <p:cNvGrpSpPr/>
          <p:nvPr/>
        </p:nvGrpSpPr>
        <p:grpSpPr>
          <a:xfrm>
            <a:off x="6979752" y="2968379"/>
            <a:ext cx="3713919" cy="530208"/>
            <a:chOff x="6819496" y="2938211"/>
            <a:chExt cx="3713919" cy="530208"/>
          </a:xfrm>
        </p:grpSpPr>
        <p:sp>
          <p:nvSpPr>
            <p:cNvPr id="31" name="椭圆 4">
              <a:extLst>
                <a:ext uri="{FF2B5EF4-FFF2-40B4-BE49-F238E27FC236}">
                  <a16:creationId xmlns:a16="http://schemas.microsoft.com/office/drawing/2014/main" id="{50F1B904-9BCA-445C-B350-88C1E710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9496" y="2950892"/>
              <a:ext cx="517527" cy="517527"/>
            </a:xfrm>
            <a:prstGeom prst="ellipse">
              <a:avLst/>
            </a:prstGeom>
            <a:solidFill>
              <a:srgbClr val="63A6CF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890943" y="2938211"/>
              <a:ext cx="364247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</a:rPr>
                <a:t>2.  </a:t>
              </a:r>
              <a:r>
                <a:rPr lang="en-US" altLang="zh-CN" sz="2800" dirty="0">
                  <a:solidFill>
                    <a:srgbClr val="523A2C"/>
                  </a:solidFill>
                </a:rPr>
                <a:t>Scan app at the door</a:t>
              </a:r>
              <a:endParaRPr lang="zh-CN" altLang="en-US" sz="2800" dirty="0">
                <a:solidFill>
                  <a:srgbClr val="523A2C"/>
                </a:solidFill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22492178-67E0-447E-96D8-12F24E55F880}"/>
              </a:ext>
            </a:extLst>
          </p:cNvPr>
          <p:cNvGrpSpPr/>
          <p:nvPr/>
        </p:nvGrpSpPr>
        <p:grpSpPr>
          <a:xfrm>
            <a:off x="6979752" y="3828160"/>
            <a:ext cx="1426305" cy="523220"/>
            <a:chOff x="6819496" y="3793229"/>
            <a:chExt cx="1426305" cy="523220"/>
          </a:xfrm>
        </p:grpSpPr>
        <p:sp>
          <p:nvSpPr>
            <p:cNvPr id="32" name="椭圆 4">
              <a:extLst>
                <a:ext uri="{FF2B5EF4-FFF2-40B4-BE49-F238E27FC236}">
                  <a16:creationId xmlns:a16="http://schemas.microsoft.com/office/drawing/2014/main" id="{A59B9229-8BEF-45E3-B666-BDDE61DBF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9496" y="3798922"/>
              <a:ext cx="517527" cy="517527"/>
            </a:xfrm>
            <a:prstGeom prst="ellipse">
              <a:avLst/>
            </a:prstGeom>
            <a:solidFill>
              <a:srgbClr val="89BFE3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890943" y="3793229"/>
              <a:ext cx="13548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800">
                  <a:solidFill>
                    <a:srgbClr val="48A2A0"/>
                  </a:solidFill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3.  </a:t>
              </a:r>
              <a:r>
                <a:rPr lang="en-US" altLang="zh-CN" dirty="0">
                  <a:solidFill>
                    <a:srgbClr val="523A2C"/>
                  </a:solidFill>
                </a:rPr>
                <a:t>Shop</a:t>
              </a:r>
              <a:endParaRPr lang="zh-CN" altLang="en-US" dirty="0">
                <a:solidFill>
                  <a:srgbClr val="523A2C"/>
                </a:solidFill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4454A9C-21A4-49D9-80F3-DA5FD558F509}"/>
              </a:ext>
            </a:extLst>
          </p:cNvPr>
          <p:cNvGrpSpPr/>
          <p:nvPr/>
        </p:nvGrpSpPr>
        <p:grpSpPr>
          <a:xfrm>
            <a:off x="6979752" y="4687940"/>
            <a:ext cx="4676426" cy="524515"/>
            <a:chOff x="6819496" y="4648247"/>
            <a:chExt cx="4676426" cy="524515"/>
          </a:xfrm>
        </p:grpSpPr>
        <p:sp>
          <p:nvSpPr>
            <p:cNvPr id="33" name="椭圆 4">
              <a:extLst>
                <a:ext uri="{FF2B5EF4-FFF2-40B4-BE49-F238E27FC236}">
                  <a16:creationId xmlns:a16="http://schemas.microsoft.com/office/drawing/2014/main" id="{EEBE8F37-89C5-4FF7-85C9-0A94DAEE8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9496" y="4655235"/>
              <a:ext cx="517527" cy="517527"/>
            </a:xfrm>
            <a:prstGeom prst="ellipse">
              <a:avLst/>
            </a:prstGeom>
            <a:solidFill>
              <a:srgbClr val="A1C7E3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6890943" y="4648247"/>
              <a:ext cx="460497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800">
                  <a:solidFill>
                    <a:srgbClr val="48A2A0"/>
                  </a:solidFill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4.  </a:t>
              </a:r>
              <a:r>
                <a:rPr lang="en-US" altLang="zh-CN" dirty="0">
                  <a:solidFill>
                    <a:srgbClr val="523A2C"/>
                  </a:solidFill>
                </a:rPr>
                <a:t>Place items in “virtual cart”</a:t>
              </a:r>
              <a:endParaRPr lang="zh-CN" altLang="en-US" dirty="0">
                <a:solidFill>
                  <a:srgbClr val="523A2C"/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9E6BF48-24D4-4BF0-9817-E516518BF1F4}"/>
              </a:ext>
            </a:extLst>
          </p:cNvPr>
          <p:cNvGrpSpPr/>
          <p:nvPr/>
        </p:nvGrpSpPr>
        <p:grpSpPr>
          <a:xfrm>
            <a:off x="6979752" y="5547720"/>
            <a:ext cx="2575210" cy="524515"/>
            <a:chOff x="6819495" y="5503265"/>
            <a:chExt cx="2575210" cy="524515"/>
          </a:xfrm>
        </p:grpSpPr>
        <p:sp>
          <p:nvSpPr>
            <p:cNvPr id="34" name="椭圆 4">
              <a:extLst>
                <a:ext uri="{FF2B5EF4-FFF2-40B4-BE49-F238E27FC236}">
                  <a16:creationId xmlns:a16="http://schemas.microsoft.com/office/drawing/2014/main" id="{AB93B852-7B04-42BF-9213-4C7D3023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19495" y="5510253"/>
              <a:ext cx="517527" cy="517527"/>
            </a:xfrm>
            <a:prstGeom prst="ellipse">
              <a:avLst/>
            </a:prstGeom>
            <a:solidFill>
              <a:srgbClr val="AFCFE7"/>
            </a:solidFill>
            <a:ln>
              <a:noFill/>
            </a:ln>
            <a:extLst/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890943" y="5503265"/>
              <a:ext cx="250376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800">
                  <a:solidFill>
                    <a:srgbClr val="48A2A0"/>
                  </a:solidFill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5.  </a:t>
              </a:r>
              <a:r>
                <a:rPr lang="en-US" altLang="zh-CN" dirty="0">
                  <a:solidFill>
                    <a:srgbClr val="523A2C"/>
                  </a:solidFill>
                </a:rPr>
                <a:t>Just walk out</a:t>
              </a:r>
              <a:endParaRPr lang="zh-CN" altLang="en-US" dirty="0">
                <a:solidFill>
                  <a:srgbClr val="523A2C"/>
                </a:solidFill>
              </a:endParaRPr>
            </a:p>
          </p:txBody>
        </p:sp>
      </p:grpSp>
      <p:sp>
        <p:nvSpPr>
          <p:cNvPr id="21" name="椭圆 20"/>
          <p:cNvSpPr/>
          <p:nvPr/>
        </p:nvSpPr>
        <p:spPr>
          <a:xfrm>
            <a:off x="1019075" y="303754"/>
            <a:ext cx="1299101" cy="1299101"/>
          </a:xfrm>
          <a:prstGeom prst="ellipse">
            <a:avLst/>
          </a:pr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821781" y="1040074"/>
            <a:ext cx="524547" cy="524547"/>
          </a:xfrm>
          <a:prstGeom prst="ellipse">
            <a:avLst/>
          </a:prstGeom>
          <a:solidFill>
            <a:srgbClr val="92BDDE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604910" y="654576"/>
            <a:ext cx="77365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How Do Amazon Go Stores Work?</a:t>
            </a:r>
          </a:p>
        </p:txBody>
      </p:sp>
      <p:pic>
        <p:nvPicPr>
          <p:cNvPr id="6" name="图片 5" descr="图片包含 建筑物, 文字, 人员, 照片&#10;&#10;已生成高可信度的说明">
            <a:extLst>
              <a:ext uri="{FF2B5EF4-FFF2-40B4-BE49-F238E27FC236}">
                <a16:creationId xmlns:a16="http://schemas.microsoft.com/office/drawing/2014/main" id="{159C6564-AA8B-4AD8-B545-CBCA5E9389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76"/>
          <a:stretch/>
        </p:blipFill>
        <p:spPr>
          <a:xfrm>
            <a:off x="821781" y="2037227"/>
            <a:ext cx="5486400" cy="408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2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8" grpId="0" animBg="1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E31F4C24-F40B-40B0-820C-7038318CFD2F}"/>
              </a:ext>
            </a:extLst>
          </p:cNvPr>
          <p:cNvSpPr/>
          <p:nvPr/>
        </p:nvSpPr>
        <p:spPr>
          <a:xfrm>
            <a:off x="9078461" y="353181"/>
            <a:ext cx="1299101" cy="1299101"/>
          </a:xfrm>
          <a:prstGeom prst="ellipse">
            <a:avLst/>
          </a:pr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E5D22AD2-ED7F-4735-9778-3C3289C989CE}"/>
              </a:ext>
            </a:extLst>
          </p:cNvPr>
          <p:cNvSpPr/>
          <p:nvPr/>
        </p:nvSpPr>
        <p:spPr>
          <a:xfrm>
            <a:off x="10062543" y="1127735"/>
            <a:ext cx="524547" cy="524547"/>
          </a:xfrm>
          <a:prstGeom prst="ellipse">
            <a:avLst/>
          </a:prstGeom>
          <a:solidFill>
            <a:srgbClr val="92BDDE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B382731-F73D-4678-9BD4-FCB3AC348790}"/>
              </a:ext>
            </a:extLst>
          </p:cNvPr>
          <p:cNvSpPr/>
          <p:nvPr/>
        </p:nvSpPr>
        <p:spPr>
          <a:xfrm>
            <a:off x="1604910" y="654576"/>
            <a:ext cx="810677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Unmanned store vs traditional store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28D1124-1831-4A4A-94C2-F29956ADF7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092" y="1590543"/>
            <a:ext cx="3433623" cy="3433623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9D31BE1E-ED8B-49A5-911C-2A6A7BF487ED}"/>
              </a:ext>
            </a:extLst>
          </p:cNvPr>
          <p:cNvSpPr txBox="1"/>
          <p:nvPr/>
        </p:nvSpPr>
        <p:spPr>
          <a:xfrm>
            <a:off x="1325930" y="4944891"/>
            <a:ext cx="2821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Futura Bk BT" panose="020B0502020204020303" pitchFamily="34" charset="0"/>
              </a:rPr>
              <a:t>Membership card data </a:t>
            </a:r>
          </a:p>
          <a:p>
            <a:r>
              <a:rPr lang="en-US" altLang="zh-CN" b="1" dirty="0">
                <a:latin typeface="Futura Bk BT" panose="020B0502020204020303" pitchFamily="34" charset="0"/>
              </a:rPr>
              <a:t>&amp; Purchase data</a:t>
            </a:r>
            <a:endParaRPr lang="zh-CN" altLang="en-US" b="1" dirty="0">
              <a:latin typeface="Futura Bk BT" panose="020B0502020204020303" pitchFamily="34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4E19688-A720-4A8A-A0BB-9D9508952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9470" y="3449897"/>
            <a:ext cx="4399005" cy="3408103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18907699-25C2-487C-BB5A-E5095F7D893F}"/>
              </a:ext>
            </a:extLst>
          </p:cNvPr>
          <p:cNvSpPr txBox="1"/>
          <p:nvPr/>
        </p:nvSpPr>
        <p:spPr>
          <a:xfrm>
            <a:off x="8567778" y="3014150"/>
            <a:ext cx="2287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Futura Bk BT" panose="020B0502020204020303" pitchFamily="34" charset="0"/>
              </a:rPr>
              <a:t>Shopping Behavior</a:t>
            </a:r>
            <a:endParaRPr lang="zh-CN" altLang="en-US" b="1" dirty="0">
              <a:latin typeface="Futura Bk BT" panose="020B0502020204020303" pitchFamily="34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5F20DFAE-5467-4D4E-AB8B-545D6E1C44AC}"/>
              </a:ext>
            </a:extLst>
          </p:cNvPr>
          <p:cNvSpPr/>
          <p:nvPr/>
        </p:nvSpPr>
        <p:spPr>
          <a:xfrm>
            <a:off x="5446449" y="3014150"/>
            <a:ext cx="1299101" cy="1299101"/>
          </a:xfrm>
          <a:prstGeom prst="ellipse">
            <a:avLst/>
          </a:prstGeom>
          <a:solidFill>
            <a:srgbClr val="3D90C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800" dirty="0"/>
              <a:t>VS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093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8" grpId="0"/>
      <p:bldP spid="5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112EF6-87EA-45C1-96FD-2DBF1CE67C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" b="5891"/>
          <a:stretch/>
        </p:blipFill>
        <p:spPr>
          <a:xfrm>
            <a:off x="0" y="1849175"/>
            <a:ext cx="12192000" cy="5008826"/>
          </a:xfrm>
          <a:prstGeom prst="rect">
            <a:avLst/>
          </a:prstGeom>
        </p:spPr>
      </p:pic>
      <p:sp>
        <p:nvSpPr>
          <p:cNvPr id="13" name="椭圆 12">
            <a:extLst>
              <a:ext uri="{FF2B5EF4-FFF2-40B4-BE49-F238E27FC236}">
                <a16:creationId xmlns:a16="http://schemas.microsoft.com/office/drawing/2014/main" id="{C51D194D-CC8D-44DF-AE4A-3DBC7DBF1A06}"/>
              </a:ext>
            </a:extLst>
          </p:cNvPr>
          <p:cNvSpPr/>
          <p:nvPr/>
        </p:nvSpPr>
        <p:spPr>
          <a:xfrm>
            <a:off x="1019075" y="303754"/>
            <a:ext cx="1299101" cy="1299101"/>
          </a:xfrm>
          <a:prstGeom prst="ellipse">
            <a:avLst/>
          </a:pr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07FFD0C-314F-4AAB-99A7-905B47A42A72}"/>
              </a:ext>
            </a:extLst>
          </p:cNvPr>
          <p:cNvSpPr/>
          <p:nvPr/>
        </p:nvSpPr>
        <p:spPr>
          <a:xfrm>
            <a:off x="821781" y="1040074"/>
            <a:ext cx="524547" cy="524547"/>
          </a:xfrm>
          <a:prstGeom prst="ellipse">
            <a:avLst/>
          </a:prstGeom>
          <a:solidFill>
            <a:srgbClr val="92BDDE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B382731-F73D-4678-9BD4-FCB3AC348790}"/>
              </a:ext>
            </a:extLst>
          </p:cNvPr>
          <p:cNvSpPr/>
          <p:nvPr/>
        </p:nvSpPr>
        <p:spPr>
          <a:xfrm>
            <a:off x="1604910" y="654576"/>
            <a:ext cx="63394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Intelligent recommendation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C6D660F-7ABC-44A7-A200-6811594E4B5F}"/>
              </a:ext>
            </a:extLst>
          </p:cNvPr>
          <p:cNvGrpSpPr/>
          <p:nvPr/>
        </p:nvGrpSpPr>
        <p:grpSpPr>
          <a:xfrm>
            <a:off x="6555297" y="2834920"/>
            <a:ext cx="1869154" cy="1096612"/>
            <a:chOff x="6682971" y="2818035"/>
            <a:chExt cx="1869154" cy="10966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FB8FC4CB-2244-4E51-BFFD-CBCBACC06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691186">
              <a:off x="6682971" y="2943356"/>
              <a:ext cx="1827019" cy="971291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5E0D229-27FB-4BC4-A7AB-F5E612046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590334">
              <a:off x="6725106" y="2818035"/>
              <a:ext cx="1827019" cy="971291"/>
            </a:xfrm>
            <a:prstGeom prst="rect">
              <a:avLst/>
            </a:prstGeom>
          </p:spPr>
        </p:pic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9B00DDD4-13A4-4FC4-8C50-98971A2DAEBA}"/>
              </a:ext>
            </a:extLst>
          </p:cNvPr>
          <p:cNvSpPr txBox="1"/>
          <p:nvPr/>
        </p:nvSpPr>
        <p:spPr>
          <a:xfrm>
            <a:off x="3208748" y="2513646"/>
            <a:ext cx="2417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b="1" dirty="0">
                <a:latin typeface="Futura Bk BT" panose="020B0502020204020303" pitchFamily="34" charset="0"/>
              </a:rPr>
              <a:t>Recommendation</a:t>
            </a:r>
            <a:endParaRPr lang="zh-CN" altLang="en-US" sz="2000" b="1" dirty="0">
              <a:latin typeface="Futura Bk BT" panose="020B0502020204020303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E47022-E730-430C-AFDF-8E27AF414A99}"/>
              </a:ext>
            </a:extLst>
          </p:cNvPr>
          <p:cNvSpPr/>
          <p:nvPr/>
        </p:nvSpPr>
        <p:spPr>
          <a:xfrm>
            <a:off x="3256376" y="2834920"/>
            <a:ext cx="23672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dirty="0">
                <a:latin typeface="Calibri Light" panose="020F0302020204030204" pitchFamily="34" charset="0"/>
                <a:ea typeface="Adobe 仿宋 Std R" panose="02020400000000000000" pitchFamily="18" charset="-122"/>
              </a:rPr>
              <a:t>based on this behavior of the customer </a:t>
            </a:r>
            <a:endParaRPr lang="zh-CN" altLang="en-US" dirty="0">
              <a:latin typeface="Calibri Light" panose="020F0302020204030204" pitchFamily="34" charset="0"/>
              <a:ea typeface="Adobe 仿宋 Std R" panose="02020400000000000000" pitchFamily="18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93A6B8B-DB26-4CB7-972E-65A776E96761}"/>
              </a:ext>
            </a:extLst>
          </p:cNvPr>
          <p:cNvGrpSpPr/>
          <p:nvPr/>
        </p:nvGrpSpPr>
        <p:grpSpPr>
          <a:xfrm>
            <a:off x="5832084" y="2460028"/>
            <a:ext cx="517527" cy="517527"/>
            <a:chOff x="9937750" y="2166942"/>
            <a:chExt cx="625475" cy="625475"/>
          </a:xfrm>
        </p:grpSpPr>
        <p:sp>
          <p:nvSpPr>
            <p:cNvPr id="19" name="椭圆 4">
              <a:extLst>
                <a:ext uri="{FF2B5EF4-FFF2-40B4-BE49-F238E27FC236}">
                  <a16:creationId xmlns:a16="http://schemas.microsoft.com/office/drawing/2014/main" id="{D20A1240-9EC3-44CA-8B2F-2A41B43AD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AFCF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0" name="椭圆 5">
              <a:extLst>
                <a:ext uri="{FF2B5EF4-FFF2-40B4-BE49-F238E27FC236}">
                  <a16:creationId xmlns:a16="http://schemas.microsoft.com/office/drawing/2014/main" id="{665A928E-1A0C-40A5-B31C-A61CF63D5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92B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787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1C51C13D-3722-4D27-B00A-02BF26EC23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407" y="2368378"/>
            <a:ext cx="9013593" cy="4506796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593246" y="2319722"/>
            <a:ext cx="18036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b="1" dirty="0">
                <a:latin typeface="Futura Bk BT" panose="020B0502020204020303" pitchFamily="34" charset="0"/>
              </a:rPr>
              <a:t>Big data &amp; AI</a:t>
            </a:r>
            <a:endParaRPr lang="zh-CN" altLang="en-US" sz="2000" b="1" dirty="0">
              <a:latin typeface="Futura Bk BT" panose="020B0502020204020303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30485" y="4399950"/>
            <a:ext cx="21739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2000" b="1" dirty="0">
                <a:latin typeface="Futura Bk BT" panose="020B0502020204020303" pitchFamily="34" charset="0"/>
              </a:rPr>
              <a:t>Adjust inventory</a:t>
            </a:r>
            <a:endParaRPr lang="zh-CN" altLang="en-US" sz="2000" b="1" dirty="0">
              <a:latin typeface="Futura Bk BT" panose="020B0502020204020303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28631" y="2640996"/>
            <a:ext cx="26655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dirty="0">
                <a:latin typeface="Calibri Light" panose="020F0302020204030204" pitchFamily="34" charset="0"/>
                <a:ea typeface="Adobe 仿宋 Std R" panose="02020400000000000000" pitchFamily="18" charset="-122"/>
              </a:rPr>
              <a:t>analyze returns, receipts and membership card data</a:t>
            </a:r>
            <a:endParaRPr lang="zh-CN" altLang="en-US" dirty="0">
              <a:latin typeface="Calibri Light" panose="020F0302020204030204" pitchFamily="34" charset="0"/>
              <a:ea typeface="Adobe 仿宋 Std R" panose="02020400000000000000" pitchFamily="18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57200" y="4721224"/>
            <a:ext cx="29370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dirty="0">
                <a:latin typeface="Calibri Light" panose="020F0302020204030204" pitchFamily="34" charset="0"/>
                <a:ea typeface="Adobe 仿宋 Std R" panose="02020400000000000000" pitchFamily="18" charset="-122"/>
              </a:rPr>
              <a:t>adjust the inventory in each store Intelligently</a:t>
            </a:r>
            <a:endParaRPr lang="zh-CN" altLang="en-US" dirty="0">
              <a:latin typeface="Calibri Light" panose="020F0302020204030204" pitchFamily="34" charset="0"/>
              <a:ea typeface="Adobe 仿宋 Std R" panose="02020400000000000000" pitchFamily="18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3602631" y="2266104"/>
            <a:ext cx="517527" cy="517527"/>
            <a:chOff x="9937750" y="2166942"/>
            <a:chExt cx="625475" cy="625475"/>
          </a:xfrm>
        </p:grpSpPr>
        <p:sp>
          <p:nvSpPr>
            <p:cNvPr id="50" name="椭圆 4"/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AFCF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" name="椭圆 5"/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92B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3602631" y="4346332"/>
            <a:ext cx="517527" cy="517527"/>
            <a:chOff x="9937750" y="2166942"/>
            <a:chExt cx="625475" cy="625475"/>
          </a:xfrm>
        </p:grpSpPr>
        <p:sp>
          <p:nvSpPr>
            <p:cNvPr id="53" name="椭圆 4"/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AFCF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4" name="椭圆 5"/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92B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34" name="椭圆 33">
            <a:extLst>
              <a:ext uri="{FF2B5EF4-FFF2-40B4-BE49-F238E27FC236}">
                <a16:creationId xmlns:a16="http://schemas.microsoft.com/office/drawing/2014/main" id="{E31F4C24-F40B-40B0-820C-7038318CFD2F}"/>
              </a:ext>
            </a:extLst>
          </p:cNvPr>
          <p:cNvSpPr/>
          <p:nvPr/>
        </p:nvSpPr>
        <p:spPr>
          <a:xfrm>
            <a:off x="1019075" y="303754"/>
            <a:ext cx="1299101" cy="1299101"/>
          </a:xfrm>
          <a:prstGeom prst="ellipse">
            <a:avLst/>
          </a:prstGeom>
          <a:solidFill>
            <a:srgbClr val="B4DBEA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E5D22AD2-ED7F-4735-9778-3C3289C989CE}"/>
              </a:ext>
            </a:extLst>
          </p:cNvPr>
          <p:cNvSpPr/>
          <p:nvPr/>
        </p:nvSpPr>
        <p:spPr>
          <a:xfrm>
            <a:off x="821781" y="1040074"/>
            <a:ext cx="524547" cy="524547"/>
          </a:xfrm>
          <a:prstGeom prst="ellipse">
            <a:avLst/>
          </a:prstGeom>
          <a:solidFill>
            <a:srgbClr val="92BDDE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B382731-F73D-4678-9BD4-FCB3AC348790}"/>
              </a:ext>
            </a:extLst>
          </p:cNvPr>
          <p:cNvSpPr/>
          <p:nvPr/>
        </p:nvSpPr>
        <p:spPr>
          <a:xfrm>
            <a:off x="1604910" y="654576"/>
            <a:ext cx="86318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3600" dirty="0">
                <a:latin typeface="微软雅黑" charset="0"/>
                <a:ea typeface="微软雅黑" charset="0"/>
                <a:cs typeface="微软雅黑" charset="0"/>
              </a:rPr>
              <a:t>H&amp;M intelligently adjust the inventory</a:t>
            </a:r>
          </a:p>
        </p:txBody>
      </p:sp>
      <p:pic>
        <p:nvPicPr>
          <p:cNvPr id="12" name="图片 11" descr="图片包含 物体&#10;&#10;已生成高可信度的说明">
            <a:extLst>
              <a:ext uri="{FF2B5EF4-FFF2-40B4-BE49-F238E27FC236}">
                <a16:creationId xmlns:a16="http://schemas.microsoft.com/office/drawing/2014/main" id="{16078DC8-9D20-451C-94FB-48268C7806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320" y="2930930"/>
            <a:ext cx="2029330" cy="1335976"/>
          </a:xfrm>
          <a:prstGeom prst="rect">
            <a:avLst/>
          </a:prstGeom>
        </p:spPr>
      </p:pic>
      <p:sp>
        <p:nvSpPr>
          <p:cNvPr id="4" name="箭头: 下 3">
            <a:extLst>
              <a:ext uri="{FF2B5EF4-FFF2-40B4-BE49-F238E27FC236}">
                <a16:creationId xmlns:a16="http://schemas.microsoft.com/office/drawing/2014/main" id="{2D00C85A-DF75-425B-97E9-E9D3466DCD6C}"/>
              </a:ext>
            </a:extLst>
          </p:cNvPr>
          <p:cNvSpPr/>
          <p:nvPr/>
        </p:nvSpPr>
        <p:spPr>
          <a:xfrm>
            <a:off x="3722390" y="2988786"/>
            <a:ext cx="281353" cy="1220265"/>
          </a:xfrm>
          <a:prstGeom prst="downArrow">
            <a:avLst/>
          </a:prstGeom>
          <a:solidFill>
            <a:srgbClr val="92BDDE"/>
          </a:solidFill>
          <a:ln w="38100">
            <a:solidFill>
              <a:srgbClr val="AFCF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209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 rot="10800000" flipH="1" flipV="1">
            <a:off x="6461760" y="2773680"/>
            <a:ext cx="5730240" cy="4084319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AFCFE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191309" y="1713587"/>
            <a:ext cx="3301902" cy="3301902"/>
          </a:xfrm>
          <a:prstGeom prst="ellipse">
            <a:avLst/>
          </a:prstGeom>
          <a:solidFill>
            <a:srgbClr val="A1C7E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1191309" y="4836503"/>
            <a:ext cx="636165" cy="636165"/>
          </a:xfrm>
          <a:prstGeom prst="ellipse">
            <a:avLst/>
          </a:prstGeom>
          <a:solidFill>
            <a:srgbClr val="DAEBF6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523A2C"/>
              </a:solidFill>
            </a:endParaRPr>
          </a:p>
        </p:txBody>
      </p:sp>
      <p:sp>
        <p:nvSpPr>
          <p:cNvPr id="6" name="MH_Others_1"/>
          <p:cNvSpPr txBox="1"/>
          <p:nvPr>
            <p:custDataLst>
              <p:tags r:id="rId1"/>
            </p:custDataLst>
          </p:nvPr>
        </p:nvSpPr>
        <p:spPr>
          <a:xfrm>
            <a:off x="2360237" y="2015357"/>
            <a:ext cx="954114" cy="3139229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>
            <a:defPPr>
              <a:defRPr lang="zh-CN"/>
            </a:defPPr>
            <a:lvl1pPr algn="ctr">
              <a:defRPr sz="37500">
                <a:solidFill>
                  <a:schemeClr val="bg1"/>
                </a:solidFill>
                <a:latin typeface="ISOCP" panose="00000400000000000000" pitchFamily="2" charset="0"/>
                <a:ea typeface="造字工房悦黑（非商用）常规体" pitchFamily="50" charset="-122"/>
                <a:cs typeface="ISOCP" panose="00000400000000000000" pitchFamily="2" charset="0"/>
              </a:defRPr>
            </a:lvl1pPr>
          </a:lstStyle>
          <a:p>
            <a:r>
              <a:rPr lang="en-US" altLang="zh-CN" sz="31400" dirty="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</a:t>
            </a:r>
            <a:endParaRPr lang="zh-CN" altLang="en-US" sz="3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19163" y="3044279"/>
            <a:ext cx="323037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Conclusion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7659249" y="1102546"/>
            <a:ext cx="611041" cy="611041"/>
            <a:chOff x="9937750" y="2166942"/>
            <a:chExt cx="625475" cy="625475"/>
          </a:xfrm>
        </p:grpSpPr>
        <p:sp>
          <p:nvSpPr>
            <p:cNvPr id="12" name="椭圆 4"/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A1C7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523A2C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椭圆 5"/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63A6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523A2C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266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5" grpId="0" animBg="1"/>
      <p:bldP spid="6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 11"/>
          <p:cNvSpPr/>
          <p:nvPr/>
        </p:nvSpPr>
        <p:spPr>
          <a:xfrm>
            <a:off x="3627117" y="550681"/>
            <a:ext cx="8564883" cy="6307319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AFCFE7"/>
          </a:solidFill>
          <a:ln>
            <a:noFill/>
          </a:ln>
          <a:extLst/>
        </p:spPr>
        <p:txBody>
          <a:bodyPr anchor="ctr"/>
          <a:lstStyle/>
          <a:p>
            <a:pPr algn="ctr"/>
            <a:endParaRPr lang="zh-CN" altLang="en-US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3872348" y="893373"/>
            <a:ext cx="8336282" cy="5964627"/>
          </a:xfrm>
          <a:custGeom>
            <a:avLst/>
            <a:gdLst>
              <a:gd name="connsiteX0" fmla="*/ 4052585 w 7495569"/>
              <a:gd name="connsiteY0" fmla="*/ 0 h 5760400"/>
              <a:gd name="connsiteX1" fmla="*/ 7413052 w 7495569"/>
              <a:gd name="connsiteY1" fmla="*/ 1786746 h 5760400"/>
              <a:gd name="connsiteX2" fmla="*/ 7495569 w 7495569"/>
              <a:gd name="connsiteY2" fmla="*/ 1922573 h 5760400"/>
              <a:gd name="connsiteX3" fmla="*/ 7495569 w 7495569"/>
              <a:gd name="connsiteY3" fmla="*/ 5760400 h 5760400"/>
              <a:gd name="connsiteX4" fmla="*/ 381273 w 7495569"/>
              <a:gd name="connsiteY4" fmla="*/ 5760400 h 5760400"/>
              <a:gd name="connsiteX5" fmla="*/ 318473 w 7495569"/>
              <a:gd name="connsiteY5" fmla="*/ 5630034 h 5760400"/>
              <a:gd name="connsiteX6" fmla="*/ 0 w 7495569"/>
              <a:gd name="connsiteY6" fmla="*/ 4052585 h 5760400"/>
              <a:gd name="connsiteX7" fmla="*/ 4052585 w 7495569"/>
              <a:gd name="connsiteY7" fmla="*/ 0 h 57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5569" h="5760400">
                <a:moveTo>
                  <a:pt x="4052585" y="0"/>
                </a:moveTo>
                <a:cubicBezTo>
                  <a:pt x="5451448" y="0"/>
                  <a:pt x="6684773" y="708752"/>
                  <a:pt x="7413052" y="1786746"/>
                </a:cubicBezTo>
                <a:lnTo>
                  <a:pt x="7495569" y="1922573"/>
                </a:lnTo>
                <a:lnTo>
                  <a:pt x="7495569" y="5760400"/>
                </a:lnTo>
                <a:lnTo>
                  <a:pt x="381273" y="5760400"/>
                </a:lnTo>
                <a:lnTo>
                  <a:pt x="318473" y="5630034"/>
                </a:lnTo>
                <a:cubicBezTo>
                  <a:pt x="113401" y="5145190"/>
                  <a:pt x="0" y="4612131"/>
                  <a:pt x="0" y="4052585"/>
                </a:cubicBezTo>
                <a:cubicBezTo>
                  <a:pt x="0" y="1814404"/>
                  <a:pt x="1814404" y="0"/>
                  <a:pt x="4052585" y="0"/>
                </a:cubicBezTo>
                <a:close/>
              </a:path>
            </a:pathLst>
          </a:custGeom>
          <a:solidFill>
            <a:srgbClr val="89BFE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351986" y="550681"/>
            <a:ext cx="2305031" cy="2305031"/>
          </a:xfrm>
          <a:prstGeom prst="ellipse">
            <a:avLst/>
          </a:prstGeom>
          <a:solidFill>
            <a:srgbClr val="B4DBEA"/>
          </a:solidFill>
          <a:ln>
            <a:noFill/>
          </a:ln>
          <a:effectLst>
            <a:reflection stA="40000" endPos="30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031213" y="3427515"/>
            <a:ext cx="5011947" cy="1342605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zh-CN" sz="9600" b="1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ISOCP" panose="00000400000000000000" pitchFamily="2" charset="0"/>
              </a:rPr>
              <a:t>THANKS!</a:t>
            </a:r>
            <a:endParaRPr lang="zh-CN" altLang="en-US" sz="9600" b="1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ISOCP" panose="00000400000000000000" pitchFamily="2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902638" y="2550191"/>
            <a:ext cx="611041" cy="611041"/>
            <a:chOff x="9937750" y="2166942"/>
            <a:chExt cx="625475" cy="625475"/>
          </a:xfrm>
        </p:grpSpPr>
        <p:sp>
          <p:nvSpPr>
            <p:cNvPr id="10" name="椭圆 4"/>
            <p:cNvSpPr>
              <a:spLocks noChangeArrowheads="1"/>
            </p:cNvSpPr>
            <p:nvPr/>
          </p:nvSpPr>
          <p:spPr bwMode="auto">
            <a:xfrm>
              <a:off x="9937750" y="2166942"/>
              <a:ext cx="625475" cy="625475"/>
            </a:xfrm>
            <a:prstGeom prst="ellipse">
              <a:avLst/>
            </a:prstGeom>
            <a:solidFill>
              <a:srgbClr val="B4DB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椭圆 5"/>
            <p:cNvSpPr>
              <a:spLocks noChangeArrowheads="1"/>
            </p:cNvSpPr>
            <p:nvPr/>
          </p:nvSpPr>
          <p:spPr bwMode="auto">
            <a:xfrm>
              <a:off x="10061357" y="2290549"/>
              <a:ext cx="378260" cy="378260"/>
            </a:xfrm>
            <a:prstGeom prst="ellipse">
              <a:avLst/>
            </a:prstGeom>
            <a:solidFill>
              <a:srgbClr val="89BF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cap="flat" cmpd="sng">
                  <a:solidFill>
                    <a:srgbClr val="395E8A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8566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3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fill="hold" grpId="0" nodeType="withEffect" p14:presetBounceEnd="4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6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18" grpId="0" animBg="1"/>
          <p:bldP spid="16" grpId="0" animBg="1"/>
          <p:bldP spid="1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4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41" presetClass="entr" presetSubtype="0" fill="hold" grpId="0" nodeType="withEffect">
                                      <p:stCondLst>
                                        <p:cond delay="2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x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h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/10"/>
                                              </p:val>
                                            </p:tav>
                                            <p:tav tm="50000">
                                              <p:val>
                                                <p:strVal val="#ppt_w+.0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4" dur="500" tmFilter="0,0; .5, 1; 1, 1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" grpId="0" animBg="1"/>
          <p:bldP spid="18" grpId="0" animBg="1"/>
          <p:bldP spid="16" grpId="0" animBg="1"/>
          <p:bldP spid="11" grpId="0"/>
        </p:bldLst>
      </p:timing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51230141854"/>
  <p:tag name="MH_LIBRARY" val="CONTENTS"/>
  <p:tag name="MH_TYPE" val="OTHERS"/>
  <p:tag name="ID" val="54583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187</Words>
  <Application>Microsoft Office PowerPoint</Application>
  <PresentationFormat>宽屏</PresentationFormat>
  <Paragraphs>58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Adobe 仿宋 Std R</vt:lpstr>
      <vt:lpstr>Futura Bk BT</vt:lpstr>
      <vt:lpstr>ISOCP</vt:lpstr>
      <vt:lpstr>等线</vt:lpstr>
      <vt:lpstr>等线 Light</vt:lpstr>
      <vt:lpstr>华文细黑</vt:lpstr>
      <vt:lpstr>宋体</vt:lpstr>
      <vt:lpstr>微软雅黑</vt:lpstr>
      <vt:lpstr>Arial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昊宇</dc:creator>
  <cp:lastModifiedBy>张 昊宇</cp:lastModifiedBy>
  <cp:revision>6</cp:revision>
  <dcterms:created xsi:type="dcterms:W3CDTF">2018-10-10T13:07:31Z</dcterms:created>
  <dcterms:modified xsi:type="dcterms:W3CDTF">2018-10-10T14:55:25Z</dcterms:modified>
</cp:coreProperties>
</file>